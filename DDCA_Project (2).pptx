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rimson Pro SemiBold" panose="020B0604020202020204" charset="0"/>
      <p:regular r:id="rId10"/>
    </p:embeddedFont>
    <p:embeddedFont>
      <p:font typeface="Heebo" pitchFamily="2" charset="-79"/>
      <p:regular r:id="rId11"/>
      <p:bold r:id="rId12"/>
    </p:embeddedFont>
    <p:embeddedFont>
      <p:font typeface="Heebo Bold" charset="-79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109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5480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Design of a Binary to Gray Code Converter Using Logisim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99880"/>
            <a:ext cx="10868745" cy="257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Digital Design and Computer Architecture (DDCA) —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Project Presentation</a:t>
            </a:r>
            <a:endParaRPr lang="en-US" sz="1450" dirty="0"/>
          </a:p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Department : Freshman Engineering Department</a:t>
            </a:r>
          </a:p>
          <a:p>
            <a:pPr>
              <a:lnSpc>
                <a:spcPct val="133000"/>
              </a:lnSpc>
            </a:pPr>
            <a:endParaRPr lang="en-US" sz="145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Group : 6</a:t>
            </a:r>
          </a:p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KAKARAPARTI JOSHITHA SAI SAHASRA - 2620030378</a:t>
            </a:r>
          </a:p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PARUCHURI PRANAVI - 2620030409</a:t>
            </a:r>
          </a:p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KOMATIREDDY SAWNTHAN REDDY - 2620030437</a:t>
            </a:r>
          </a:p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MEREDDY SRI VARSHITH REDDY - 2620030438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868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Introduction to Binary and Gray Code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70251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Concepts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36577"/>
            <a:ext cx="2522375" cy="17011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7954" y="2341463"/>
            <a:ext cx="20110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Binary Code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7954" y="2792512"/>
            <a:ext cx="20110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Represents numbers using only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0s and 1s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4403" y="2136577"/>
            <a:ext cx="2522375" cy="17011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60882" y="2341463"/>
            <a:ext cx="20110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Gray Code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3660882" y="2792512"/>
            <a:ext cx="201101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binary encoding where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consecutive values differ by only one bit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08239"/>
            <a:ext cx="2522375" cy="1981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954" y="4213126"/>
            <a:ext cx="20110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Advantage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967954" y="4664174"/>
            <a:ext cx="2011015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ambiguity caused by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multiple bits changing simultaneously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4403" y="4008239"/>
            <a:ext cx="2522375" cy="1981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60882" y="4213126"/>
            <a:ext cx="20110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Converter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3660882" y="4664174"/>
            <a:ext cx="2011015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Transforms a binary input into its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corresponding Gray code output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321267" y="1670251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3-Bit Binary to Gray Code Comparison</a:t>
            </a:r>
            <a:endParaRPr lang="en-US" sz="1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1267" y="2136577"/>
          <a:ext cx="5215304" cy="3519697"/>
        </p:xfrm>
        <a:graphic>
          <a:graphicData uri="http://schemas.openxmlformats.org/drawingml/2006/table">
            <a:tbl>
              <a:tblPr/>
              <a:tblGrid>
                <a:gridCol w="1738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Decimal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Binary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Gray Code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000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000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001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001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010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011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011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010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110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111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53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Objectives and Logic Design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36107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Objectives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2002433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728843" y="203611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36036" y="2064147"/>
            <a:ext cx="46407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Design a 4-bit binary-to-Gray code converter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61475" y="2747566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28843" y="2781250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6036" y="2809280"/>
            <a:ext cx="46407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Derive Boolean expressions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61475" y="3492698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28843" y="3526383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36036" y="3554413"/>
            <a:ext cx="46407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Implement using XOR gates in Logisim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1475" y="4237831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28843" y="4271516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36036" y="4299545"/>
            <a:ext cx="46407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Verify outputs using the truth table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321267" y="1536107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Inputs &amp; Outputs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321267" y="1981101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Binary inputs: </a:t>
            </a:r>
            <a:r>
              <a:rPr lang="en-US" sz="1400" b="1" dirty="0">
                <a:solidFill>
                  <a:srgbClr val="008B8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B3, B2, B1, B0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 →  Gray outputs: </a:t>
            </a:r>
            <a:r>
              <a:rPr lang="en-US" sz="1400" b="1" dirty="0">
                <a:solidFill>
                  <a:srgbClr val="008B8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G3, G2, G1, G0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21267" y="2437807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Boolean Expressions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6321267" y="2904133"/>
            <a:ext cx="2522375" cy="1090116"/>
          </a:xfrm>
          <a:prstGeom prst="roundRect">
            <a:avLst>
              <a:gd name="adj" fmla="val 2471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6500749" y="3083620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G3 = B3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500749" y="3534668"/>
            <a:ext cx="216341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pass-through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14195" y="2904133"/>
            <a:ext cx="2522375" cy="1090116"/>
          </a:xfrm>
          <a:prstGeom prst="roundRect">
            <a:avLst>
              <a:gd name="adj" fmla="val 2471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9193677" y="3083620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G2 = B3 ⊕ B2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193677" y="3534668"/>
            <a:ext cx="216341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B3 and B2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21267" y="4164806"/>
            <a:ext cx="2522375" cy="1090116"/>
          </a:xfrm>
          <a:prstGeom prst="roundRect">
            <a:avLst>
              <a:gd name="adj" fmla="val 2471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6500749" y="4344293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G1 = B2 ⊕ B1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500749" y="4795341"/>
            <a:ext cx="216341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B2 and B1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14195" y="4164806"/>
            <a:ext cx="2522375" cy="1090116"/>
          </a:xfrm>
          <a:prstGeom prst="roundRect">
            <a:avLst>
              <a:gd name="adj" fmla="val 2471"/>
            </a:avLst>
          </a:prstGeom>
          <a:solidFill>
            <a:srgbClr val="F2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9193677" y="4344293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G0 = B1 ⊕ B0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9193677" y="4795341"/>
            <a:ext cx="216341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B1 and B0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21267" y="5446812"/>
            <a:ext cx="5215303" cy="676771"/>
          </a:xfrm>
          <a:prstGeom prst="roundRect">
            <a:avLst>
              <a:gd name="adj" fmla="val 3980"/>
            </a:avLst>
          </a:prstGeom>
          <a:solidFill>
            <a:srgbClr val="CCD7FF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749" y="5702002"/>
            <a:ext cx="224427" cy="179487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904659" y="5645150"/>
            <a:ext cx="50620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outputs 1 when its two inputs are different.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058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Truth Table of the 4-Bit Converter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95413"/>
          <a:ext cx="10868746" cy="4597888"/>
        </p:xfrm>
        <a:graphic>
          <a:graphicData uri="http://schemas.openxmlformats.org/drawingml/2006/table">
            <a:tbl>
              <a:tblPr/>
              <a:tblGrid>
                <a:gridCol w="1208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Dec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B3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B2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G3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G2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7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8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9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12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13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14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15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155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Circuit Implementation in Logisim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927181" y="1292253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Circuit 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927181" y="1558032"/>
            <a:ext cx="360928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circuit is a </a:t>
            </a: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combinational logic design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requiring minimal components: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927181" y="1972072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927181" y="2168029"/>
            <a:ext cx="3609289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8" name="Text 5"/>
          <p:cNvSpPr/>
          <p:nvPr/>
        </p:nvSpPr>
        <p:spPr>
          <a:xfrm>
            <a:off x="7927181" y="2254845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Direct Wire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27181" y="2526605"/>
            <a:ext cx="360928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B3 → G3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MSB is passed directly with no gate.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927181" y="2860576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927181" y="3056533"/>
            <a:ext cx="3609289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2" name="Text 9"/>
          <p:cNvSpPr/>
          <p:nvPr/>
        </p:nvSpPr>
        <p:spPr>
          <a:xfrm>
            <a:off x="7927181" y="3143349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XOR Gate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27181" y="3415109"/>
            <a:ext cx="360928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B3 ⊕ B2 → G2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927181" y="3749080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927181" y="3945037"/>
            <a:ext cx="3609289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6" name="Text 13"/>
          <p:cNvSpPr/>
          <p:nvPr/>
        </p:nvSpPr>
        <p:spPr>
          <a:xfrm>
            <a:off x="7927181" y="4031853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XOR Gate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27181" y="4303613"/>
            <a:ext cx="360928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B2 ⊕ B1 → G1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927181" y="4637584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927181" y="4833541"/>
            <a:ext cx="3609289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0" name="Text 17"/>
          <p:cNvSpPr/>
          <p:nvPr/>
        </p:nvSpPr>
        <p:spPr>
          <a:xfrm>
            <a:off x="7927181" y="4920357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XOR Gate 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27181" y="5192117"/>
            <a:ext cx="360928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B1 ⊕ B0 → G0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927181" y="5536109"/>
            <a:ext cx="3609289" cy="529233"/>
          </a:xfrm>
          <a:prstGeom prst="roundRect">
            <a:avLst>
              <a:gd name="adj" fmla="val 3482"/>
            </a:avLst>
          </a:prstGeom>
          <a:solidFill>
            <a:srgbClr val="CCD7FF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011" y="5653286"/>
            <a:ext cx="153488" cy="12283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326328" y="5638602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Three XOR gates and one direct connection are all that is needed for a complete 4-bit converter.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2B18299-1D0A-30EB-A751-211FD8915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74" y="2024459"/>
            <a:ext cx="7298559" cy="3087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83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Working of the Converter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06607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Circuit Operation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65585"/>
            <a:ext cx="744221" cy="8930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2870" y="1814413"/>
            <a:ext cx="43914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G3 = B3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522870" y="2164060"/>
            <a:ext cx="43914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Directly copies the MSB.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558653"/>
            <a:ext cx="744221" cy="8930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2870" y="2707481"/>
            <a:ext cx="43914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G2 = B3 ⊕ B2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522870" y="3057128"/>
            <a:ext cx="43914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the two most significant bits.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451721"/>
            <a:ext cx="744221" cy="8930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22870" y="3600549"/>
            <a:ext cx="43914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G1 = B2 ⊕ B1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522870" y="3950196"/>
            <a:ext cx="43914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the middle two bits.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344789"/>
            <a:ext cx="744221" cy="8930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22870" y="4493617"/>
            <a:ext cx="43914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G0 = B1 ⊕ B0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522870" y="4843264"/>
            <a:ext cx="43914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the two least significant bits.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176610" y="1184077"/>
            <a:ext cx="5467114" cy="4185642"/>
          </a:xfrm>
          <a:prstGeom prst="roundRect">
            <a:avLst>
              <a:gd name="adj" fmla="val 533"/>
            </a:avLst>
          </a:prstGeom>
          <a:solidFill>
            <a:srgbClr val="2C3E50"/>
          </a:solidFill>
          <a:ln/>
        </p:spPr>
      </p:sp>
      <p:sp>
        <p:nvSpPr>
          <p:cNvPr id="17" name="Text 11"/>
          <p:cNvSpPr/>
          <p:nvPr/>
        </p:nvSpPr>
        <p:spPr>
          <a:xfrm>
            <a:off x="6325434" y="1306607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Worked Example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325434" y="1650901"/>
            <a:ext cx="5169465" cy="53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Binary input: </a:t>
            </a: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1011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B3 = 1, B2 = 0, B1 = 1, B0 = 1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325434" y="2351088"/>
            <a:ext cx="5169465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6325434" y="2576413"/>
            <a:ext cx="5169465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020642" y="2764532"/>
            <a:ext cx="577905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Gray code output: </a:t>
            </a:r>
            <a:r>
              <a:rPr lang="en-US" sz="1150" b="1" dirty="0">
                <a:solidFill>
                  <a:srgbClr val="008B8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1 1 1 0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325434" y="3082826"/>
            <a:ext cx="577905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Verify by changing input switches in Logisim and comparing outputs against the truth table.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61475" y="5501580"/>
            <a:ext cx="2629231" cy="813197"/>
          </a:xfrm>
          <a:prstGeom prst="roundRect">
            <a:avLst>
              <a:gd name="adj" fmla="val 2746"/>
            </a:avLst>
          </a:prstGeom>
          <a:solidFill>
            <a:srgbClr val="F2EEEE"/>
          </a:solidFill>
          <a:ln/>
        </p:spPr>
      </p:sp>
      <p:sp>
        <p:nvSpPr>
          <p:cNvPr id="24" name="Text 18"/>
          <p:cNvSpPr/>
          <p:nvPr/>
        </p:nvSpPr>
        <p:spPr>
          <a:xfrm>
            <a:off x="810299" y="5650409"/>
            <a:ext cx="233158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G3 = 1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10299" y="5953125"/>
            <a:ext cx="2331582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Copy B3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3407880" y="5501580"/>
            <a:ext cx="2629330" cy="813197"/>
          </a:xfrm>
          <a:prstGeom prst="roundRect">
            <a:avLst>
              <a:gd name="adj" fmla="val 2746"/>
            </a:avLst>
          </a:prstGeom>
          <a:solidFill>
            <a:srgbClr val="F2EEEE"/>
          </a:solidFill>
          <a:ln/>
        </p:spPr>
      </p:sp>
      <p:sp>
        <p:nvSpPr>
          <p:cNvPr id="27" name="Text 21"/>
          <p:cNvSpPr/>
          <p:nvPr/>
        </p:nvSpPr>
        <p:spPr>
          <a:xfrm>
            <a:off x="3556705" y="5650409"/>
            <a:ext cx="233168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G2 = 1⊕0 = 1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3556705" y="5953125"/>
            <a:ext cx="2331682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B3 XOR B2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154385" y="5501580"/>
            <a:ext cx="2629330" cy="813197"/>
          </a:xfrm>
          <a:prstGeom prst="roundRect">
            <a:avLst>
              <a:gd name="adj" fmla="val 2746"/>
            </a:avLst>
          </a:prstGeom>
          <a:solidFill>
            <a:srgbClr val="F2EEEE"/>
          </a:solidFill>
          <a:ln/>
        </p:spPr>
      </p:sp>
      <p:sp>
        <p:nvSpPr>
          <p:cNvPr id="30" name="Text 24"/>
          <p:cNvSpPr/>
          <p:nvPr/>
        </p:nvSpPr>
        <p:spPr>
          <a:xfrm>
            <a:off x="6303209" y="5650409"/>
            <a:ext cx="233168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G1 = 0⊕1 = 1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6303209" y="5953125"/>
            <a:ext cx="2331682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B2 XOR B1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8900890" y="5501580"/>
            <a:ext cx="2629330" cy="813197"/>
          </a:xfrm>
          <a:prstGeom prst="roundRect">
            <a:avLst>
              <a:gd name="adj" fmla="val 2746"/>
            </a:avLst>
          </a:prstGeom>
          <a:solidFill>
            <a:srgbClr val="F2EEEE"/>
          </a:solidFill>
          <a:ln/>
        </p:spPr>
      </p:sp>
      <p:sp>
        <p:nvSpPr>
          <p:cNvPr id="33" name="Text 27"/>
          <p:cNvSpPr/>
          <p:nvPr/>
        </p:nvSpPr>
        <p:spPr>
          <a:xfrm>
            <a:off x="9049714" y="5650409"/>
            <a:ext cx="233168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G0 = 1⊕1 = 0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9049714" y="5953125"/>
            <a:ext cx="2331682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B1 XOR B0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57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Applications and Conclusion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97850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Real-World Applications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98551"/>
            <a:ext cx="401627" cy="4016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470845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Rotary Encoders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2858393"/>
            <a:ext cx="52384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Shaft and rotary position encoders in industrial machinery.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69171"/>
            <a:ext cx="401627" cy="4016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3941465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Position Measurement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61475" y="4329013"/>
            <a:ext cx="52384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Digital position measurement systems requiring error-free transitions.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839791"/>
            <a:ext cx="401627" cy="4016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412085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Digital Electronics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61475" y="5799634"/>
            <a:ext cx="52384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Education and circuit simulation in digital design coursework.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298149" y="1497850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</a:t>
            </a:r>
            <a:endParaRPr lang="en-US" sz="1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374" y="1906439"/>
            <a:ext cx="240996" cy="2410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20225" y="1898551"/>
            <a:ext cx="47163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4-bit binary-to-Gray converter is a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combinational logic circuit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374" y="2669431"/>
            <a:ext cx="240996" cy="2410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20225" y="2661543"/>
            <a:ext cx="47163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Requires only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one direct connection and three XOR gates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374" y="3432423"/>
            <a:ext cx="240996" cy="24100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20225" y="3424535"/>
            <a:ext cx="47163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Boolean expressions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define the conversion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mathematically.</a:t>
            </a:r>
            <a:endParaRPr lang="en-US" sz="12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374" y="4195415"/>
            <a:ext cx="240996" cy="24100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20225" y="4187527"/>
            <a:ext cx="47163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16-row truth table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verifies expected mapping for every input.</a:t>
            </a:r>
            <a:endParaRPr lang="en-US" sz="12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374" y="4958407"/>
            <a:ext cx="240996" cy="24100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20225" y="4950520"/>
            <a:ext cx="47163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Logisim provides a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convenient environment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implement and test the circuit.</a:t>
            </a:r>
            <a:endParaRPr lang="en-US" sz="1250" dirty="0"/>
          </a:p>
        </p:txBody>
      </p:sp>
      <p:sp>
        <p:nvSpPr>
          <p:cNvPr id="24" name="Shape 14"/>
          <p:cNvSpPr/>
          <p:nvPr/>
        </p:nvSpPr>
        <p:spPr>
          <a:xfrm>
            <a:off x="6298149" y="5634137"/>
            <a:ext cx="5238421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701</Words>
  <Application>Microsoft Office PowerPoint</Application>
  <PresentationFormat>Widescreen</PresentationFormat>
  <Paragraphs>277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Heebo</vt:lpstr>
      <vt:lpstr>Crimson Pro SemiBold</vt:lpstr>
      <vt:lpstr>Arial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Komatireddy Sawnthan</cp:lastModifiedBy>
  <cp:revision>3</cp:revision>
  <dcterms:created xsi:type="dcterms:W3CDTF">2026-10-14T05:16:57Z</dcterms:created>
  <dcterms:modified xsi:type="dcterms:W3CDTF">2026-10-15T03:18:04Z</dcterms:modified>
</cp:coreProperties>
</file>